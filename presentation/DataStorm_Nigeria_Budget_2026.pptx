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Where Does Your ₦1,000 Go? (Nigeria 2026 Budget)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per ₦1,000</c:v>
                </c:pt>
              </c:strCache>
            </c:strRef>
          </c:tx>
          <c:spPr>
            <a:solidFill>
              <a:srgbClr val="ADB5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DB5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DB5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DB5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DB5B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Digital Economy</c:v>
                  </c:pt>
                  <c:pt idx="1">
                    <c:v>Agriculture</c:v>
                  </c:pt>
                  <c:pt idx="2">
                    <c:v>Health</c:v>
                  </c:pt>
                  <c:pt idx="3">
                    <c:v>Education</c:v>
                  </c:pt>
                  <c:pt idx="4">
                    <c:v>Salaries &amp; Overhead</c:v>
                  </c:pt>
                  <c:pt idx="5">
                    <c:v>Debt Repayment</c:v>
                  </c:pt>
                  <c:pt idx="6">
                    <c:v>Capital Projects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</c:v>
                </c:pt>
                <c:pt idx="1">
                  <c:v>25</c:v>
                </c:pt>
                <c:pt idx="2">
                  <c:v>42</c:v>
                </c:pt>
                <c:pt idx="3">
                  <c:v>44</c:v>
                </c:pt>
                <c:pt idx="4">
                  <c:v>261</c:v>
                </c:pt>
                <c:pt idx="5">
                  <c:v>272</c:v>
                </c:pt>
                <c:pt idx="6">
                  <c:v>397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Nigeria 2026 Budget Allocation (₦ Trillion)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 (₦ Trillion)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12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Debt Servicing</c:v>
                  </c:pt>
                  <c:pt idx="1">
                    <c:v>Education + Health</c:v>
                  </c:pt>
                  <c:pt idx="2">
                    <c:v>Education</c:v>
                  </c:pt>
                  <c:pt idx="3">
                    <c:v>Health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15.91</c:v>
                </c:pt>
                <c:pt idx="1">
                  <c:v>5.02</c:v>
                </c:pt>
                <c:pt idx="2">
                  <c:v>2.56</c:v>
                </c:pt>
                <c:pt idx="3">
                  <c:v>2.46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9C46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9C46A"/>
                </a:solidFill>
                <a:latin typeface="Arial"/>
              </a:rPr>
              <a:t>Nigeria Debt Servicing Cost 2022–2026 (₦ Trillion)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Service (₦ Trillion)</c:v>
                </c:pt>
              </c:strCache>
            </c:strRef>
          </c:tx>
          <c:spPr>
            <a:solidFill>
              <a:srgbClr val="C1121F"/>
            </a:solidFill>
            <a:ln w="38100" cap="flat">
              <a:solidFill>
                <a:srgbClr val="C112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121F"/>
              </a:solidFill>
              <a:ln w="9525" cap="flat">
                <a:solidFill>
                  <a:srgbClr val="C112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3.76</c:v>
                </c:pt>
                <c:pt idx="1">
                  <c:v>6.86</c:v>
                </c:pt>
                <c:pt idx="2">
                  <c:v>12.36</c:v>
                </c:pt>
                <c:pt idx="3">
                  <c:v>13.43</c:v>
                </c:pt>
                <c:pt idx="4">
                  <c:v>15.91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DB5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Nigeria vs Global Benchmark (% of Budget)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Nigeria Actual (%)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Education</c:v>
                  </c:pt>
                  <c:pt idx="1">
                    <c:v>Health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4.38</c:v>
                </c:pt>
                <c:pt idx="1">
                  <c:v>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Global Benchmark (%)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Education</c:v>
                  </c:pt>
                  <c:pt idx="1">
                    <c:v>Health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Approved vs Actual Revenue 2017–2025 (₦ Trillion)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 Revenue (₦ Tn)</c:v>
                </c:pt>
              </c:strCache>
            </c:strRef>
          </c:tx>
          <c:spPr>
            <a:solidFill>
              <a:srgbClr val="ADB5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5.08</c:v>
                </c:pt>
                <c:pt idx="1">
                  <c:v>7.17</c:v>
                </c:pt>
                <c:pt idx="2">
                  <c:v>6.99</c:v>
                </c:pt>
                <c:pt idx="3">
                  <c:v>5.84</c:v>
                </c:pt>
                <c:pt idx="4">
                  <c:v>6.64</c:v>
                </c:pt>
                <c:pt idx="5">
                  <c:v>9.97</c:v>
                </c:pt>
                <c:pt idx="6">
                  <c:v>11.05</c:v>
                </c:pt>
                <c:pt idx="7">
                  <c:v>25.88</c:v>
                </c:pt>
                <c:pt idx="8">
                  <c:v>36.35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Revenue (₦ Tn)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2.66</c:v>
                </c:pt>
                <c:pt idx="1">
                  <c:v>3.87</c:v>
                </c:pt>
                <c:pt idx="2">
                  <c:v>4.12</c:v>
                </c:pt>
                <c:pt idx="3">
                  <c:v>2.55</c:v>
                </c:pt>
                <c:pt idx="4">
                  <c:v>4.17</c:v>
                </c:pt>
                <c:pt idx="5">
                  <c:v>7.76</c:v>
                </c:pt>
                <c:pt idx="6">
                  <c:v>12.48</c:v>
                </c:pt>
                <c:pt idx="7">
                  <c:v>20.98</c:v>
                </c:pt>
                <c:pt idx="8">
                  <c:v>10.92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2026 Debt Service Composition (₦15.91 Trillion)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Debt Composition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121F"/>
              </a:solidFill>
              <a:effectLst/>
            </c:spPr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</c:dPt>
          <c:dPt>
            <c:idx val="2"/>
            <c:bubble3D val="0"/>
            <c:spPr>
              <a:solidFill>
                <a:srgbClr val="E9C46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Domestic Debt
(incl. Ways &amp; Means)</c:v>
                </c:pt>
                <c:pt idx="1">
                  <c:v>Foreign Debt</c:v>
                </c:pt>
                <c:pt idx="2">
                  <c:v>Sinking Fund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63.86</c:v>
                </c:pt>
                <c:pt idx="1">
                  <c:v>33.69</c:v>
                </c:pt>
                <c:pt idx="2">
                  <c:v>2.45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9C46A"/>
                </a:solidFill>
              </a:rPr>
              <a:t>DATA SPECIAL REPORT  |  MAY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WHO IS NIGERIA'S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BUDGET REALLY FOR?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3246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EE2E6"/>
                </a:solidFill>
              </a:rPr>
              <a:t>A Data-Driven Investigation into Nigeria's 2026 Federal Budget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3931920"/>
            <a:ext cx="27432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9776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₦58.47tn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4074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EE2E6"/>
                </a:solidFill>
              </a:rPr>
              <a:t>Total Budget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931920"/>
            <a:ext cx="2743200" cy="9144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39776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₦15.91tn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44074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EE2E6"/>
                </a:solidFill>
              </a:rPr>
              <a:t>Debt Servicing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931920"/>
            <a:ext cx="27432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2A4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39776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₦5.02tn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44074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EE2E6"/>
                </a:solidFill>
              </a:rPr>
              <a:t>Education + Health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5BD"/>
                </a:solidFill>
              </a:rPr>
              <a:t>DATASTORM  |  Source: Budget Office of the Federation · BudgIT · DMO · NBS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The Budget in Plain Numbers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188720"/>
            <a:ext cx="2651760" cy="15544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325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₦272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21792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spent on debt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for every ₦44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on education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926080"/>
            <a:ext cx="26517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2999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EE2E6"/>
                </a:solidFill>
              </a:rPr>
              <a:t>Presidential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EE2E6"/>
                </a:solidFill>
              </a:rPr>
              <a:t>Air Fleet gets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3401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C46A"/>
                </a:solidFill>
              </a:rPr>
              <a:t>3.4×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217920" y="3822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EE2E6"/>
                </a:solidFill>
              </a:rPr>
              <a:t>more than Digital Economy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Source: BudgIT 2026 FG Proposed Budget Analysis  |  DATASTORM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The Debt That Is Eating Nigeria Alive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143000"/>
            <a:ext cx="2743200" cy="10972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2161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3.17×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126480" y="176479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</a:rPr>
              <a:t>more spent on debt than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</a:rPr>
              <a:t>Education + Health combined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26480" y="2404872"/>
            <a:ext cx="27432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24780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6.2×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126480" y="30266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</a:rPr>
              <a:t>more spent on debt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</a:rPr>
              <a:t>than Education alone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3666744"/>
            <a:ext cx="27432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3739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6.5×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126480" y="42885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</a:rPr>
              <a:t>more spent on debt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EE2E6"/>
                </a:solidFill>
              </a:rPr>
              <a:t>than Health alone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Source: BudgIT 2026 FG Proposed Budget Analysis  |  DATASTORM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1121F"/>
                </a:solidFill>
              </a:rPr>
              <a:t>323%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increase in debt servicing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costs in just 4 years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6596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965960"/>
            <a:ext cx="233172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19659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9C46A"/>
                </a:solidFill>
              </a:rPr>
              <a:t>2025–2026 = Budgeted figures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DB5BD"/>
                </a:solidFill>
              </a:rPr>
              <a:t>Source: BudgIT · Budget Office of the Federation  |  DATASTORM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What Nigerians Are Not Getting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43000"/>
            <a:ext cx="310896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1978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EE2E6"/>
                </a:solidFill>
              </a:rPr>
              <a:t>EDUCATION GAP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₦6.21tn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760720" y="19110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EE2E6"/>
                </a:solidFill>
              </a:rPr>
              <a:t>Below UNESCO 15% minimum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08960" cy="10789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EE2E6"/>
                </a:solidFill>
              </a:rPr>
              <a:t>HEALTH GAP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60720" y="26517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₦6.31tn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760720" y="3145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EE2E6"/>
                </a:solidFill>
              </a:rPr>
              <a:t>Below Abuja Declaration 15%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60720" y="3611880"/>
            <a:ext cx="31089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36667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EE2E6"/>
                </a:solidFill>
              </a:rPr>
              <a:t>DEBT PER NIGERIAN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60720" y="38862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₦724k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760720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EE2E6"/>
                </a:solidFill>
              </a:rPr>
              <a:t>Every citizen's share of national debt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Source: BudgIT · UNESCO · Abuja Declaration · DMO  |  DATASTORM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A Budget Built on Assumptions That Never Come True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143000"/>
            <a:ext cx="173736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0" y="14630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121F"/>
                </a:solidFill>
              </a:rPr>
              <a:t>8 out 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1121F"/>
                </a:solidFill>
              </a:rPr>
              <a:t>9 years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0" y="2514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Nigeria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missed 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revenue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target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0" y="3840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C46A"/>
                </a:solidFill>
              </a:rPr>
              <a:t>2026 target: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9C46A"/>
                </a:solidFill>
              </a:rPr>
              <a:t>₦33.19tn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*2025 actual as at June 2025 only  |  Source: BudgIT · Budget Office of the Federation  |  DATASTORM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0" cy="25603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DEBT BREAKDOWN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Where Is the ₦15.91 Trillion Going?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4300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143000"/>
            <a:ext cx="3383280" cy="10972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0" y="1234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63.86%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EE2E6"/>
                </a:solidFill>
              </a:rPr>
              <a:t>Domestic Debt — Borrowed locally at high interest rates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0" y="2404872"/>
            <a:ext cx="33832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0" y="2496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33.69%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48640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EE2E6"/>
                </a:solidFill>
              </a:rPr>
              <a:t>Foreign Debt — Multilateral &amp; bilateral creditors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3666744"/>
            <a:ext cx="3383280" cy="10972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486400" y="37581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2.45%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486400" y="43251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Sinking Fund — Retiring maturing promissory notes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Source: BudgIT 2026 FG Proposed Budget Analysis  |  DATASTORM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9C46A"/>
                </a:solidFill>
              </a:rPr>
              <a:t>THE VERDICT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Nigeria's 2026 Budget Is a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Debt Management Plan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Dressed as a Development Plan.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201168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The Number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12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Debt vs Education (ratio)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6.2× more on debt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Debt vs Education + Health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3.17× more on debt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Education gap (UNESCO bench)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₦6.21 trillion short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Health gap (Abuja Declaration)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₦6.31 trillion short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Debt per Nigerian citizen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₦724,000 per person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Revenue missed in last 9 years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8 out of 9 years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</a:rPr>
              <a:t>DATASTORM  |  Source: Budget Office of the Federation · BudgIT · DMO · NBS  |  May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Is Nigeria's Budget Really For? — DataStorm</dc:title>
  <dc:subject>PptxGenJS Presentation</dc:subject>
  <dc:creator>PptxGenJS</dc:creator>
  <cp:lastModifiedBy>PptxGenJS</cp:lastModifiedBy>
  <cp:revision>1</cp:revision>
  <dcterms:created xsi:type="dcterms:W3CDTF">2026-05-10T10:17:35Z</dcterms:created>
  <dcterms:modified xsi:type="dcterms:W3CDTF">2026-05-10T10:17:35Z</dcterms:modified>
</cp:coreProperties>
</file>